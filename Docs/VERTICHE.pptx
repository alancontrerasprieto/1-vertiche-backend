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0"/>
  </p:notesMasterIdLst>
  <p:sldIdLst>
    <p:sldId id="256" r:id="rId2"/>
    <p:sldId id="263" r:id="rId3"/>
    <p:sldId id="257" r:id="rId4"/>
    <p:sldId id="258" r:id="rId5"/>
    <p:sldId id="259" r:id="rId6"/>
    <p:sldId id="260" r:id="rId7"/>
    <p:sldId id="261" r:id="rId8"/>
    <p:sldId id="262" r:id="rId9"/>
  </p:sldIdLst>
  <p:sldSz cx="9144000" cy="5143500" type="screen16x9"/>
  <p:notesSz cx="6858000" cy="9144000"/>
  <p:embeddedFontLst>
    <p:embeddedFont>
      <p:font typeface="Economica" panose="02000506040000020004" pitchFamily="2" charset="77"/>
      <p:regular r:id="rId11"/>
      <p:bold r:id="rId12"/>
      <p:italic r:id="rId13"/>
      <p:boldItalic r:id="rId14"/>
    </p:embeddedFont>
    <p:embeddedFont>
      <p:font typeface="Open Sans" panose="020B0606030504020204" pitchFamily="34" charset="0"/>
      <p:regular r:id="rId15"/>
      <p:bold r:id="rId16"/>
      <p:italic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60" d="100"/>
          <a:sy n="160" d="100"/>
        </p:scale>
        <p:origin x="784" y="1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3c8032e9f00_0_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3c8032e9f00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c8095adf89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c8095adf89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c8032e9f00_0_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c8032e9f00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3c8032e9f00_0_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3c8032e9f00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c8032e9f00_0_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c8032e9f00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c8032e9f00_0_1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3c8032e9f00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2744013" y="756700"/>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txBody>
          <a:bodyPr/>
          <a:lstStyle/>
          <a:p>
            <a:endParaRPr lang="es-001"/>
          </a:p>
        </p:txBody>
      </p:sp>
      <p:sp>
        <p:nvSpPr>
          <p:cNvPr id="11" name="Google Shape;11;p2"/>
          <p:cNvSpPr/>
          <p:nvPr/>
        </p:nvSpPr>
        <p:spPr>
          <a:xfrm rot="10800000">
            <a:off x="5318350" y="32667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txBody>
          <a:bodyPr/>
          <a:lstStyle/>
          <a:p>
            <a:endParaRPr lang="es-001"/>
          </a:p>
        </p:txBody>
      </p:sp>
      <p:sp>
        <p:nvSpPr>
          <p:cNvPr id="12" name="Google Shape;12;p2"/>
          <p:cNvSpPr txBox="1">
            <a:spLocks noGrp="1"/>
          </p:cNvSpPr>
          <p:nvPr>
            <p:ph type="ctrTitle"/>
          </p:nvPr>
        </p:nvSpPr>
        <p:spPr>
          <a:xfrm>
            <a:off x="3044700" y="1444255"/>
            <a:ext cx="3054600" cy="15372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endParaRPr/>
          </a:p>
        </p:txBody>
      </p:sp>
      <p:sp>
        <p:nvSpPr>
          <p:cNvPr id="13" name="Google Shape;13;p2"/>
          <p:cNvSpPr txBox="1">
            <a:spLocks noGrp="1"/>
          </p:cNvSpPr>
          <p:nvPr>
            <p:ph type="subTitle" idx="1"/>
          </p:nvPr>
        </p:nvSpPr>
        <p:spPr>
          <a:xfrm>
            <a:off x="3044700" y="3116580"/>
            <a:ext cx="3054600" cy="7014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a:endParaRPr/>
          </a:p>
        </p:txBody>
      </p:sp>
      <p:sp>
        <p:nvSpPr>
          <p:cNvPr id="14" name="Google Shape;14;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p:nvPr/>
        </p:nvSpPr>
        <p:spPr>
          <a:xfrm flipH="1">
            <a:off x="7595938" y="4602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7" name="Google Shape;17;p3"/>
          <p:cNvSpPr/>
          <p:nvPr/>
        </p:nvSpPr>
        <p:spPr>
          <a:xfrm rot="10800000" flipH="1">
            <a:off x="466425" y="35583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8" name="Google Shape;18;p3"/>
          <p:cNvSpPr txBox="1">
            <a:spLocks noGrp="1"/>
          </p:cNvSpPr>
          <p:nvPr>
            <p:ph type="title"/>
          </p:nvPr>
        </p:nvSpPr>
        <p:spPr>
          <a:xfrm>
            <a:off x="773700" y="1806450"/>
            <a:ext cx="7596600" cy="15306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endParaRPr/>
          </a:p>
        </p:txBody>
      </p:sp>
      <p:sp>
        <p:nvSpPr>
          <p:cNvPr id="19" name="Google Shape;19;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4"/>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3" name="Google Shape;23;p4"/>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7" name="Google Shape;27;p5"/>
          <p:cNvSpPr txBox="1">
            <a:spLocks noGrp="1"/>
          </p:cNvSpPr>
          <p:nvPr>
            <p:ph type="body" idx="1"/>
          </p:nvPr>
        </p:nvSpPr>
        <p:spPr>
          <a:xfrm>
            <a:off x="311700" y="1225225"/>
            <a:ext cx="3999900" cy="3354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8" name="Google Shape;28;p5"/>
          <p:cNvSpPr txBox="1">
            <a:spLocks noGrp="1"/>
          </p:cNvSpPr>
          <p:nvPr>
            <p:ph type="body" idx="2"/>
          </p:nvPr>
        </p:nvSpPr>
        <p:spPr>
          <a:xfrm>
            <a:off x="4832400" y="1225225"/>
            <a:ext cx="3999900" cy="3354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9" name="Google Shape;29;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6"/>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32" name="Google Shape;32;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35" name="Google Shape;35;p7"/>
          <p:cNvSpPr txBox="1">
            <a:spLocks noGrp="1"/>
          </p:cNvSpPr>
          <p:nvPr>
            <p:ph type="body" idx="1"/>
          </p:nvPr>
        </p:nvSpPr>
        <p:spPr>
          <a:xfrm>
            <a:off x="311700" y="1399400"/>
            <a:ext cx="2808000" cy="27849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6" name="Google Shape;36;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8"/>
          <p:cNvSpPr txBox="1">
            <a:spLocks noGrp="1"/>
          </p:cNvSpPr>
          <p:nvPr>
            <p:ph type="title"/>
          </p:nvPr>
        </p:nvSpPr>
        <p:spPr>
          <a:xfrm>
            <a:off x="490250" y="450150"/>
            <a:ext cx="5878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0" name="Google Shape;4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3" name="Google Shape;43;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4" name="Google Shape;44;p9"/>
          <p:cNvSpPr txBox="1">
            <a:spLocks noGrp="1"/>
          </p:cNvSpPr>
          <p:nvPr>
            <p:ph type="title"/>
          </p:nvPr>
        </p:nvSpPr>
        <p:spPr>
          <a:xfrm>
            <a:off x="265500" y="929275"/>
            <a:ext cx="4045200" cy="17862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a:endParaRPr/>
          </a:p>
        </p:txBody>
      </p:sp>
      <p:sp>
        <p:nvSpPr>
          <p:cNvPr id="45" name="Google Shape;45;p9"/>
          <p:cNvSpPr txBox="1">
            <a:spLocks noGrp="1"/>
          </p:cNvSpPr>
          <p:nvPr>
            <p:ph type="subTitle" idx="1"/>
          </p:nvPr>
        </p:nvSpPr>
        <p:spPr>
          <a:xfrm>
            <a:off x="265500" y="2769001"/>
            <a:ext cx="4045200" cy="1574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a:endParaRPr/>
          </a:p>
        </p:txBody>
      </p:sp>
      <p:sp>
        <p:nvSpPr>
          <p:cNvPr id="46" name="Google Shape;46;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47" name="Google Shape;47;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8"/>
        <p:cNvGrpSpPr/>
        <p:nvPr/>
      </p:nvGrpSpPr>
      <p:grpSpPr>
        <a:xfrm>
          <a:off x="0" y="0"/>
          <a:ext cx="0" cy="0"/>
          <a:chOff x="0" y="0"/>
          <a:chExt cx="0" cy="0"/>
        </a:xfrm>
      </p:grpSpPr>
      <p:sp>
        <p:nvSpPr>
          <p:cNvPr id="49" name="Google Shape;49;p10"/>
          <p:cNvSpPr txBox="1">
            <a:spLocks noGrp="1"/>
          </p:cNvSpPr>
          <p:nvPr>
            <p:ph type="body" idx="1"/>
          </p:nvPr>
        </p:nvSpPr>
        <p:spPr>
          <a:xfrm>
            <a:off x="319500" y="42189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a:endParaRPr/>
          </a:p>
        </p:txBody>
      </p:sp>
      <p:sp>
        <p:nvSpPr>
          <p:cNvPr id="50" name="Google Shape;50;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11"/>
          <p:cNvSpPr txBox="1">
            <a:spLocks noGrp="1"/>
          </p:cNvSpPr>
          <p:nvPr>
            <p:ph type="title" hasCustomPrompt="1"/>
          </p:nvPr>
        </p:nvSpPr>
        <p:spPr>
          <a:xfrm>
            <a:off x="311700" y="957125"/>
            <a:ext cx="8520600" cy="21288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a:spLocks noGrp="1"/>
          </p:cNvSpPr>
          <p:nvPr>
            <p:ph type="body" idx="1"/>
          </p:nvPr>
        </p:nvSpPr>
        <p:spPr>
          <a:xfrm>
            <a:off x="311700" y="3162000"/>
            <a:ext cx="85206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5" name="Google Shape;5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lux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rm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a:endParaRPr/>
          </a:p>
        </p:txBody>
      </p:sp>
      <p:sp>
        <p:nvSpPr>
          <p:cNvPr id="7" name="Google Shape;7;p1"/>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marL="914400" lvl="1"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marL="1371600" lvl="2"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marL="1828800" lvl="3"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marL="2286000" lvl="4"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marL="2743200" lvl="5"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marL="3200400" lvl="6"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marL="3657600" lvl="7"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marL="4114800" lvl="8"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s-419"/>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g"/><Relationship Id="rId5" Type="http://schemas.openxmlformats.org/officeDocument/2006/relationships/image" Target="../media/image3.jp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3"/>
          <p:cNvSpPr txBox="1">
            <a:spLocks noGrp="1"/>
          </p:cNvSpPr>
          <p:nvPr>
            <p:ph type="ctrTitle"/>
          </p:nvPr>
        </p:nvSpPr>
        <p:spPr>
          <a:xfrm>
            <a:off x="2935700" y="960000"/>
            <a:ext cx="3475800" cy="1383900"/>
          </a:xfrm>
          <a:prstGeom prst="rect">
            <a:avLst/>
          </a:prstGeom>
        </p:spPr>
        <p:txBody>
          <a:bodyPr spcFirstLastPara="1" wrap="square" lIns="91425" tIns="91425" rIns="91425" bIns="91425" anchor="b" anchorCtr="0">
            <a:noAutofit/>
          </a:bodyPr>
          <a:lstStyle/>
          <a:p>
            <a:pPr marL="0" lvl="0" indent="0" algn="ctr" rtl="0">
              <a:lnSpc>
                <a:spcPct val="115000"/>
              </a:lnSpc>
              <a:spcBef>
                <a:spcPts val="1200"/>
              </a:spcBef>
              <a:spcAft>
                <a:spcPts val="1200"/>
              </a:spcAft>
              <a:buSzPts val="990"/>
              <a:buNone/>
            </a:pPr>
            <a:r>
              <a:rPr lang="es-419" sz="3000" b="1">
                <a:latin typeface="Arial"/>
                <a:ea typeface="Arial"/>
                <a:cs typeface="Arial"/>
                <a:sym typeface="Arial"/>
              </a:rPr>
              <a:t>VERTICHE</a:t>
            </a:r>
            <a:endParaRPr sz="3780">
              <a:latin typeface="Arial"/>
              <a:ea typeface="Arial"/>
              <a:cs typeface="Arial"/>
              <a:sym typeface="Arial"/>
            </a:endParaRPr>
          </a:p>
        </p:txBody>
      </p:sp>
      <p:pic>
        <p:nvPicPr>
          <p:cNvPr id="63" name="Google Shape;63;p13" title="vertiche-avances-primavera-vestidos.jpg"/>
          <p:cNvPicPr preferRelativeResize="0"/>
          <p:nvPr/>
        </p:nvPicPr>
        <p:blipFill>
          <a:blip r:embed="rId3">
            <a:alphaModFix/>
          </a:blip>
          <a:stretch>
            <a:fillRect/>
          </a:stretch>
        </p:blipFill>
        <p:spPr>
          <a:xfrm>
            <a:off x="0" y="0"/>
            <a:ext cx="2529301" cy="2474316"/>
          </a:xfrm>
          <a:prstGeom prst="rect">
            <a:avLst/>
          </a:prstGeom>
          <a:noFill/>
          <a:ln>
            <a:noFill/>
          </a:ln>
        </p:spPr>
      </p:pic>
      <p:pic>
        <p:nvPicPr>
          <p:cNvPr id="64" name="Google Shape;64;p13" title="vertiche-avances-primavera-pantalones.jpg"/>
          <p:cNvPicPr preferRelativeResize="0"/>
          <p:nvPr/>
        </p:nvPicPr>
        <p:blipFill>
          <a:blip r:embed="rId4">
            <a:alphaModFix/>
          </a:blip>
          <a:stretch>
            <a:fillRect/>
          </a:stretch>
        </p:blipFill>
        <p:spPr>
          <a:xfrm>
            <a:off x="6614700" y="0"/>
            <a:ext cx="2529301" cy="2687569"/>
          </a:xfrm>
          <a:prstGeom prst="rect">
            <a:avLst/>
          </a:prstGeom>
          <a:noFill/>
          <a:ln>
            <a:noFill/>
          </a:ln>
        </p:spPr>
      </p:pic>
      <p:pic>
        <p:nvPicPr>
          <p:cNvPr id="65" name="Google Shape;65;p13" title="vertiche-avances-primavera-blusas.jpg"/>
          <p:cNvPicPr preferRelativeResize="0"/>
          <p:nvPr/>
        </p:nvPicPr>
        <p:blipFill>
          <a:blip r:embed="rId5">
            <a:alphaModFix/>
          </a:blip>
          <a:stretch>
            <a:fillRect/>
          </a:stretch>
        </p:blipFill>
        <p:spPr>
          <a:xfrm>
            <a:off x="0" y="2779116"/>
            <a:ext cx="2469467" cy="2364383"/>
          </a:xfrm>
          <a:prstGeom prst="rect">
            <a:avLst/>
          </a:prstGeom>
          <a:noFill/>
          <a:ln>
            <a:noFill/>
          </a:ln>
        </p:spPr>
      </p:pic>
      <p:pic>
        <p:nvPicPr>
          <p:cNvPr id="66" name="Google Shape;66;p13" title="vertiche-avances-primavera-slider.jpg"/>
          <p:cNvPicPr preferRelativeResize="0"/>
          <p:nvPr/>
        </p:nvPicPr>
        <p:blipFill>
          <a:blip r:embed="rId6">
            <a:alphaModFix/>
          </a:blip>
          <a:stretch>
            <a:fillRect/>
          </a:stretch>
        </p:blipFill>
        <p:spPr>
          <a:xfrm>
            <a:off x="6614700" y="3055094"/>
            <a:ext cx="2529299" cy="2088412"/>
          </a:xfrm>
          <a:prstGeom prst="rect">
            <a:avLst/>
          </a:prstGeom>
          <a:noFill/>
          <a:ln>
            <a:noFill/>
          </a:ln>
        </p:spPr>
      </p:pic>
      <p:pic>
        <p:nvPicPr>
          <p:cNvPr id="67" name="Google Shape;67;p13" title="logotipo_tecnologico_monterrey_version_circular.jpg"/>
          <p:cNvPicPr preferRelativeResize="0"/>
          <p:nvPr/>
        </p:nvPicPr>
        <p:blipFill>
          <a:blip r:embed="rId7">
            <a:alphaModFix/>
          </a:blip>
          <a:stretch>
            <a:fillRect/>
          </a:stretch>
        </p:blipFill>
        <p:spPr>
          <a:xfrm>
            <a:off x="3819662" y="2571750"/>
            <a:ext cx="1504675" cy="17777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3763EE66-3E4E-DD50-5608-5B529EE95E96}"/>
              </a:ext>
            </a:extLst>
          </p:cNvPr>
          <p:cNvSpPr txBox="1"/>
          <p:nvPr/>
        </p:nvSpPr>
        <p:spPr>
          <a:xfrm>
            <a:off x="1936143" y="1245162"/>
            <a:ext cx="4572000" cy="523220"/>
          </a:xfrm>
          <a:prstGeom prst="rect">
            <a:avLst/>
          </a:prstGeom>
          <a:noFill/>
        </p:spPr>
        <p:txBody>
          <a:bodyPr wrap="square">
            <a:spAutoFit/>
          </a:bodyPr>
          <a:lstStyle/>
          <a:p>
            <a:r>
              <a:rPr lang="es-001" dirty="0"/>
              <a:t>Esmeralda Gonzalez &lt;esmeralda.gonzalez@vertiche.com.mx&gt;</a:t>
            </a:r>
          </a:p>
        </p:txBody>
      </p:sp>
      <p:sp>
        <p:nvSpPr>
          <p:cNvPr id="6" name="CuadroTexto 5">
            <a:extLst>
              <a:ext uri="{FF2B5EF4-FFF2-40B4-BE49-F238E27FC236}">
                <a16:creationId xmlns:a16="http://schemas.microsoft.com/office/drawing/2014/main" id="{D2D4EF50-BFBA-552B-929D-EB88E358DFD0}"/>
              </a:ext>
            </a:extLst>
          </p:cNvPr>
          <p:cNvSpPr txBox="1"/>
          <p:nvPr/>
        </p:nvSpPr>
        <p:spPr>
          <a:xfrm>
            <a:off x="1936143" y="2048530"/>
            <a:ext cx="4572000" cy="523220"/>
          </a:xfrm>
          <a:prstGeom prst="rect">
            <a:avLst/>
          </a:prstGeom>
          <a:noFill/>
        </p:spPr>
        <p:txBody>
          <a:bodyPr wrap="square">
            <a:spAutoFit/>
          </a:bodyPr>
          <a:lstStyle/>
          <a:p>
            <a:r>
              <a:rPr lang="es-001" dirty="0"/>
              <a:t>eduardo.martinez@vertiche.com.mx &lt;eduardo.martinez@vertiche.com.mx&gt;</a:t>
            </a:r>
          </a:p>
        </p:txBody>
      </p:sp>
      <p:sp>
        <p:nvSpPr>
          <p:cNvPr id="8" name="CuadroTexto 7">
            <a:extLst>
              <a:ext uri="{FF2B5EF4-FFF2-40B4-BE49-F238E27FC236}">
                <a16:creationId xmlns:a16="http://schemas.microsoft.com/office/drawing/2014/main" id="{4631B1B9-F17C-7190-F00B-20BEE7633222}"/>
              </a:ext>
            </a:extLst>
          </p:cNvPr>
          <p:cNvSpPr txBox="1"/>
          <p:nvPr/>
        </p:nvSpPr>
        <p:spPr>
          <a:xfrm>
            <a:off x="1936143" y="3113509"/>
            <a:ext cx="4572000" cy="523220"/>
          </a:xfrm>
          <a:prstGeom prst="rect">
            <a:avLst/>
          </a:prstGeom>
          <a:noFill/>
        </p:spPr>
        <p:txBody>
          <a:bodyPr wrap="square">
            <a:spAutoFit/>
          </a:bodyPr>
          <a:lstStyle/>
          <a:p>
            <a:r>
              <a:rPr lang="es-001" dirty="0"/>
              <a:t>Fernando Dominguez &lt;fernando.dominguez@vertiche.com.mx&gt;</a:t>
            </a:r>
          </a:p>
        </p:txBody>
      </p:sp>
    </p:spTree>
    <p:extLst>
      <p:ext uri="{BB962C8B-B14F-4D97-AF65-F5344CB8AC3E}">
        <p14:creationId xmlns:p14="http://schemas.microsoft.com/office/powerpoint/2010/main" val="17796897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4"/>
          <p:cNvSpPr txBox="1">
            <a:spLocks noGrp="1"/>
          </p:cNvSpPr>
          <p:nvPr>
            <p:ph type="title"/>
          </p:nvPr>
        </p:nvSpPr>
        <p:spPr>
          <a:xfrm>
            <a:off x="311700" y="309875"/>
            <a:ext cx="8520600" cy="494400"/>
          </a:xfrm>
          <a:prstGeom prst="rect">
            <a:avLst/>
          </a:prstGeom>
        </p:spPr>
        <p:txBody>
          <a:bodyPr spcFirstLastPara="1" wrap="square" lIns="91425" tIns="91425" rIns="91425" bIns="91425" anchor="b" anchorCtr="0">
            <a:normAutofit/>
          </a:bodyPr>
          <a:lstStyle/>
          <a:p>
            <a:pPr marL="0" lvl="0" indent="0" algn="ctr" rtl="0">
              <a:lnSpc>
                <a:spcPct val="115000"/>
              </a:lnSpc>
              <a:spcBef>
                <a:spcPts val="1200"/>
              </a:spcBef>
              <a:spcAft>
                <a:spcPts val="1200"/>
              </a:spcAft>
              <a:buClr>
                <a:schemeClr val="dk1"/>
              </a:buClr>
              <a:buSzPts val="1100"/>
              <a:buFont typeface="Arial"/>
              <a:buNone/>
            </a:pPr>
            <a:r>
              <a:rPr lang="es-419" sz="1100">
                <a:latin typeface="Arial"/>
                <a:ea typeface="Arial"/>
                <a:cs typeface="Arial"/>
                <a:sym typeface="Arial"/>
              </a:rPr>
              <a:t> </a:t>
            </a:r>
            <a:r>
              <a:rPr lang="es-419" sz="1500" b="1">
                <a:latin typeface="Arial"/>
                <a:ea typeface="Arial"/>
                <a:cs typeface="Arial"/>
                <a:sym typeface="Arial"/>
              </a:rPr>
              <a:t>Pasión por la Moda, Compromiso con México.</a:t>
            </a:r>
            <a:endParaRPr sz="2400" b="1">
              <a:latin typeface="Arial"/>
              <a:ea typeface="Arial"/>
              <a:cs typeface="Arial"/>
              <a:sym typeface="Arial"/>
            </a:endParaRPr>
          </a:p>
        </p:txBody>
      </p:sp>
      <p:sp>
        <p:nvSpPr>
          <p:cNvPr id="73" name="Google Shape;73;p14"/>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rmAutofit lnSpcReduction="10000"/>
          </a:bodyPr>
          <a:lstStyle/>
          <a:p>
            <a:pPr marL="0" lvl="0" indent="0" algn="l" rtl="0">
              <a:spcBef>
                <a:spcPts val="1200"/>
              </a:spcBef>
              <a:spcAft>
                <a:spcPts val="0"/>
              </a:spcAft>
              <a:buClr>
                <a:schemeClr val="dk1"/>
              </a:buClr>
              <a:buSzPts val="1100"/>
              <a:buFont typeface="Arial"/>
              <a:buNone/>
            </a:pPr>
            <a:r>
              <a:rPr lang="es-419" sz="1500" b="1">
                <a:latin typeface="Arial"/>
                <a:ea typeface="Arial"/>
                <a:cs typeface="Arial"/>
                <a:sym typeface="Arial"/>
              </a:rPr>
              <a:t>El Comienzo:</a:t>
            </a:r>
            <a:r>
              <a:rPr lang="es-419" sz="1500">
                <a:latin typeface="Arial"/>
                <a:ea typeface="Arial"/>
                <a:cs typeface="Arial"/>
                <a:sym typeface="Arial"/>
              </a:rPr>
              <a:t> </a:t>
            </a:r>
            <a:endParaRPr sz="1500">
              <a:latin typeface="Arial"/>
              <a:ea typeface="Arial"/>
              <a:cs typeface="Arial"/>
              <a:sym typeface="Arial"/>
            </a:endParaRPr>
          </a:p>
          <a:p>
            <a:pPr marL="0" lvl="0" indent="0" algn="l" rtl="0">
              <a:spcBef>
                <a:spcPts val="1200"/>
              </a:spcBef>
              <a:spcAft>
                <a:spcPts val="0"/>
              </a:spcAft>
              <a:buClr>
                <a:schemeClr val="dk1"/>
              </a:buClr>
              <a:buSzPts val="1100"/>
              <a:buFont typeface="Arial"/>
              <a:buNone/>
            </a:pPr>
            <a:r>
              <a:rPr lang="es-419" sz="1400">
                <a:latin typeface="Arial"/>
                <a:ea typeface="Arial"/>
                <a:cs typeface="Arial"/>
                <a:sym typeface="Arial"/>
              </a:rPr>
              <a:t>Nacimos en </a:t>
            </a:r>
            <a:r>
              <a:rPr lang="es-419" sz="1400" b="1">
                <a:latin typeface="Arial"/>
                <a:ea typeface="Arial"/>
                <a:cs typeface="Arial"/>
                <a:sym typeface="Arial"/>
              </a:rPr>
              <a:t>2008</a:t>
            </a:r>
            <a:r>
              <a:rPr lang="es-419" sz="1400">
                <a:latin typeface="Arial"/>
                <a:ea typeface="Arial"/>
                <a:cs typeface="Arial"/>
                <a:sym typeface="Arial"/>
              </a:rPr>
              <a:t> con una visión clara: convertirnos en la tienda preferida de la mujer mexicana.</a:t>
            </a:r>
            <a:endParaRPr sz="1400">
              <a:latin typeface="Arial"/>
              <a:ea typeface="Arial"/>
              <a:cs typeface="Arial"/>
              <a:sym typeface="Arial"/>
            </a:endParaRPr>
          </a:p>
          <a:p>
            <a:pPr marL="0" lvl="0" indent="0" algn="l" rtl="0">
              <a:spcBef>
                <a:spcPts val="1200"/>
              </a:spcBef>
              <a:spcAft>
                <a:spcPts val="0"/>
              </a:spcAft>
              <a:buClr>
                <a:schemeClr val="dk1"/>
              </a:buClr>
              <a:buSzPts val="1100"/>
              <a:buFont typeface="Arial"/>
              <a:buNone/>
            </a:pPr>
            <a:r>
              <a:rPr lang="es-419" sz="1500" b="1">
                <a:latin typeface="Arial"/>
                <a:ea typeface="Arial"/>
                <a:cs typeface="Arial"/>
                <a:sym typeface="Arial"/>
              </a:rPr>
              <a:t>Nuestra Misión:</a:t>
            </a:r>
            <a:r>
              <a:rPr lang="es-419" sz="1500">
                <a:latin typeface="Arial"/>
                <a:ea typeface="Arial"/>
                <a:cs typeface="Arial"/>
                <a:sym typeface="Arial"/>
              </a:rPr>
              <a:t> </a:t>
            </a:r>
            <a:endParaRPr sz="1500">
              <a:latin typeface="Arial"/>
              <a:ea typeface="Arial"/>
              <a:cs typeface="Arial"/>
              <a:sym typeface="Arial"/>
            </a:endParaRPr>
          </a:p>
          <a:p>
            <a:pPr marL="0" lvl="0" indent="0" algn="l" rtl="0">
              <a:spcBef>
                <a:spcPts val="1200"/>
              </a:spcBef>
              <a:spcAft>
                <a:spcPts val="0"/>
              </a:spcAft>
              <a:buClr>
                <a:schemeClr val="dk1"/>
              </a:buClr>
              <a:buSzPts val="1100"/>
              <a:buFont typeface="Arial"/>
              <a:buNone/>
            </a:pPr>
            <a:r>
              <a:rPr lang="es-419" sz="1400">
                <a:latin typeface="Arial"/>
                <a:ea typeface="Arial"/>
                <a:cs typeface="Arial"/>
                <a:sym typeface="Arial"/>
              </a:rPr>
              <a:t>Democratizar la moda. Ofrecer una experiencia de compra especial con productos de tendencia y alta calidad a un </a:t>
            </a:r>
            <a:r>
              <a:rPr lang="es-419" sz="1400" b="1">
                <a:latin typeface="Arial"/>
                <a:ea typeface="Arial"/>
                <a:cs typeface="Arial"/>
                <a:sym typeface="Arial"/>
              </a:rPr>
              <a:t>precio justo</a:t>
            </a:r>
            <a:r>
              <a:rPr lang="es-419" sz="1400">
                <a:latin typeface="Arial"/>
                <a:ea typeface="Arial"/>
                <a:cs typeface="Arial"/>
                <a:sym typeface="Arial"/>
              </a:rPr>
              <a:t>.</a:t>
            </a:r>
            <a:endParaRPr sz="1400">
              <a:latin typeface="Arial"/>
              <a:ea typeface="Arial"/>
              <a:cs typeface="Arial"/>
              <a:sym typeface="Arial"/>
            </a:endParaRPr>
          </a:p>
          <a:p>
            <a:pPr marL="0" lvl="0" indent="0" algn="l" rtl="0">
              <a:spcBef>
                <a:spcPts val="1200"/>
              </a:spcBef>
              <a:spcAft>
                <a:spcPts val="0"/>
              </a:spcAft>
              <a:buClr>
                <a:schemeClr val="dk1"/>
              </a:buClr>
              <a:buSzPts val="1100"/>
              <a:buFont typeface="Arial"/>
              <a:buNone/>
            </a:pPr>
            <a:r>
              <a:rPr lang="es-419" sz="1500" b="1">
                <a:latin typeface="Arial"/>
                <a:ea typeface="Arial"/>
                <a:cs typeface="Arial"/>
                <a:sym typeface="Arial"/>
              </a:rPr>
              <a:t>Enfoque:</a:t>
            </a:r>
            <a:r>
              <a:rPr lang="es-419" sz="1500">
                <a:latin typeface="Arial"/>
                <a:ea typeface="Arial"/>
                <a:cs typeface="Arial"/>
                <a:sym typeface="Arial"/>
              </a:rPr>
              <a:t> </a:t>
            </a:r>
            <a:endParaRPr sz="1500">
              <a:latin typeface="Arial"/>
              <a:ea typeface="Arial"/>
              <a:cs typeface="Arial"/>
              <a:sym typeface="Arial"/>
            </a:endParaRPr>
          </a:p>
          <a:p>
            <a:pPr marL="0" lvl="0" indent="0" algn="l" rtl="0">
              <a:spcBef>
                <a:spcPts val="1200"/>
              </a:spcBef>
              <a:spcAft>
                <a:spcPts val="0"/>
              </a:spcAft>
              <a:buClr>
                <a:schemeClr val="dk1"/>
              </a:buClr>
              <a:buSzPts val="1100"/>
              <a:buFont typeface="Arial"/>
              <a:buNone/>
            </a:pPr>
            <a:r>
              <a:rPr lang="es-419" sz="1400">
                <a:latin typeface="Arial"/>
                <a:ea typeface="Arial"/>
                <a:cs typeface="Arial"/>
                <a:sym typeface="Arial"/>
              </a:rPr>
              <a:t>Entendemos a la mujer moderna, dinámica y real. Nos especializamos en ropa y artículos para dama que combinan estilo y accesibilidad.</a:t>
            </a:r>
            <a:endParaRPr sz="1400">
              <a:latin typeface="Arial"/>
              <a:ea typeface="Arial"/>
              <a:cs typeface="Arial"/>
              <a:sym typeface="Arial"/>
            </a:endParaRPr>
          </a:p>
          <a:p>
            <a:pPr marL="0" lvl="0" indent="0" algn="l" rtl="0">
              <a:spcBef>
                <a:spcPts val="1200"/>
              </a:spcBef>
              <a:spcAft>
                <a:spcPts val="120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pic>
        <p:nvPicPr>
          <p:cNvPr id="78" name="Google Shape;78;p15"/>
          <p:cNvPicPr preferRelativeResize="0"/>
          <p:nvPr/>
        </p:nvPicPr>
        <p:blipFill rotWithShape="1">
          <a:blip r:embed="rId3">
            <a:alphaModFix amt="71000"/>
          </a:blip>
          <a:srcRect t="14642" b="10613"/>
          <a:stretch/>
        </p:blipFill>
        <p:spPr>
          <a:xfrm>
            <a:off x="0" y="42300"/>
            <a:ext cx="9144001" cy="5058900"/>
          </a:xfrm>
          <a:prstGeom prst="rect">
            <a:avLst/>
          </a:prstGeom>
          <a:noFill/>
          <a:ln>
            <a:noFill/>
          </a:ln>
        </p:spPr>
      </p:pic>
      <p:sp>
        <p:nvSpPr>
          <p:cNvPr id="79" name="Google Shape;79;p15"/>
          <p:cNvSpPr txBox="1">
            <a:spLocks noGrp="1"/>
          </p:cNvSpPr>
          <p:nvPr>
            <p:ph type="title"/>
          </p:nvPr>
        </p:nvSpPr>
        <p:spPr>
          <a:xfrm>
            <a:off x="311700" y="233675"/>
            <a:ext cx="8520600" cy="545400"/>
          </a:xfrm>
          <a:prstGeom prst="rect">
            <a:avLst/>
          </a:prstGeom>
        </p:spPr>
        <p:txBody>
          <a:bodyPr spcFirstLastPara="1" wrap="square" lIns="91425" tIns="91425" rIns="91425" bIns="91425" anchor="b" anchorCtr="0">
            <a:normAutofit/>
          </a:bodyPr>
          <a:lstStyle/>
          <a:p>
            <a:pPr marL="0" lvl="0" indent="0" algn="ctr" rtl="0">
              <a:lnSpc>
                <a:spcPct val="115000"/>
              </a:lnSpc>
              <a:spcBef>
                <a:spcPts val="1200"/>
              </a:spcBef>
              <a:spcAft>
                <a:spcPts val="1200"/>
              </a:spcAft>
              <a:buClr>
                <a:schemeClr val="dk1"/>
              </a:buClr>
              <a:buSzPts val="1100"/>
              <a:buFont typeface="Arial"/>
              <a:buNone/>
            </a:pPr>
            <a:r>
              <a:rPr lang="es-419" sz="1500" b="1">
                <a:latin typeface="Arial"/>
                <a:ea typeface="Arial"/>
                <a:cs typeface="Arial"/>
                <a:sym typeface="Arial"/>
              </a:rPr>
              <a:t>Vertiche Hoy: Impacto, Valores y Expansión.</a:t>
            </a:r>
            <a:endParaRPr sz="2400" b="1">
              <a:latin typeface="Arial"/>
              <a:ea typeface="Arial"/>
              <a:cs typeface="Arial"/>
              <a:sym typeface="Arial"/>
            </a:endParaRPr>
          </a:p>
        </p:txBody>
      </p:sp>
      <p:sp>
        <p:nvSpPr>
          <p:cNvPr id="80" name="Google Shape;80;p15"/>
          <p:cNvSpPr txBox="1">
            <a:spLocks noGrp="1"/>
          </p:cNvSpPr>
          <p:nvPr>
            <p:ph type="body" idx="1"/>
          </p:nvPr>
        </p:nvSpPr>
        <p:spPr>
          <a:xfrm>
            <a:off x="311700" y="906775"/>
            <a:ext cx="8520600" cy="36723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Clr>
                <a:schemeClr val="dk1"/>
              </a:buClr>
              <a:buSzPts val="1100"/>
              <a:buFont typeface="Arial"/>
              <a:buNone/>
            </a:pPr>
            <a:r>
              <a:rPr lang="es-419" sz="1400" b="1">
                <a:latin typeface="Arial"/>
                <a:ea typeface="Arial"/>
                <a:cs typeface="Arial"/>
                <a:sym typeface="Arial"/>
              </a:rPr>
              <a:t>Nuestra Huella: </a:t>
            </a:r>
            <a:endParaRPr sz="1400" b="1">
              <a:latin typeface="Arial"/>
              <a:ea typeface="Arial"/>
              <a:cs typeface="Arial"/>
              <a:sym typeface="Arial"/>
            </a:endParaRPr>
          </a:p>
          <a:p>
            <a:pPr marL="0" lvl="0" indent="0" algn="l" rtl="0">
              <a:spcBef>
                <a:spcPts val="1200"/>
              </a:spcBef>
              <a:spcAft>
                <a:spcPts val="0"/>
              </a:spcAft>
              <a:buClr>
                <a:schemeClr val="dk1"/>
              </a:buClr>
              <a:buSzPts val="1100"/>
              <a:buFont typeface="Arial"/>
              <a:buNone/>
            </a:pPr>
            <a:r>
              <a:rPr lang="es-419" sz="1400">
                <a:latin typeface="Arial"/>
                <a:ea typeface="Arial"/>
                <a:cs typeface="Arial"/>
                <a:sym typeface="Arial"/>
              </a:rPr>
              <a:t>Contamos con más de 316 sucursales en todo el país y seguimos creciendo.</a:t>
            </a:r>
            <a:endParaRPr sz="1400">
              <a:latin typeface="Arial"/>
              <a:ea typeface="Arial"/>
              <a:cs typeface="Arial"/>
              <a:sym typeface="Arial"/>
            </a:endParaRPr>
          </a:p>
          <a:p>
            <a:pPr marL="0" lvl="0" indent="0" algn="l" rtl="0">
              <a:spcBef>
                <a:spcPts val="1200"/>
              </a:spcBef>
              <a:spcAft>
                <a:spcPts val="0"/>
              </a:spcAft>
              <a:buClr>
                <a:schemeClr val="dk1"/>
              </a:buClr>
              <a:buSzPts val="1100"/>
              <a:buFont typeface="Arial"/>
              <a:buNone/>
            </a:pPr>
            <a:r>
              <a:rPr lang="es-419" sz="1400" b="1">
                <a:latin typeface="Arial"/>
                <a:ea typeface="Arial"/>
                <a:cs typeface="Arial"/>
                <a:sym typeface="Arial"/>
              </a:rPr>
              <a:t>Nuestros Valores: </a:t>
            </a:r>
            <a:endParaRPr sz="1400" b="1">
              <a:latin typeface="Arial"/>
              <a:ea typeface="Arial"/>
              <a:cs typeface="Arial"/>
              <a:sym typeface="Arial"/>
            </a:endParaRPr>
          </a:p>
          <a:p>
            <a:pPr marL="0" lvl="0" indent="0" algn="l" rtl="0">
              <a:spcBef>
                <a:spcPts val="1200"/>
              </a:spcBef>
              <a:spcAft>
                <a:spcPts val="0"/>
              </a:spcAft>
              <a:buClr>
                <a:schemeClr val="dk1"/>
              </a:buClr>
              <a:buSzPts val="1100"/>
              <a:buFont typeface="Arial"/>
              <a:buNone/>
            </a:pPr>
            <a:r>
              <a:rPr lang="es-419" sz="1400">
                <a:latin typeface="Arial"/>
                <a:ea typeface="Arial"/>
                <a:cs typeface="Arial"/>
                <a:sym typeface="Arial"/>
              </a:rPr>
              <a:t>Honestidad, Inteligencia, Lógica y Mejora Continua. No solo vendemos ropa; construimos relaciones basadas en la confianza.</a:t>
            </a:r>
            <a:endParaRPr sz="1400">
              <a:latin typeface="Arial"/>
              <a:ea typeface="Arial"/>
              <a:cs typeface="Arial"/>
              <a:sym typeface="Arial"/>
            </a:endParaRPr>
          </a:p>
          <a:p>
            <a:pPr marL="0" lvl="0" indent="0" algn="l" rtl="0">
              <a:spcBef>
                <a:spcPts val="1200"/>
              </a:spcBef>
              <a:spcAft>
                <a:spcPts val="0"/>
              </a:spcAft>
              <a:buClr>
                <a:schemeClr val="dk1"/>
              </a:buClr>
              <a:buSzPts val="1100"/>
              <a:buFont typeface="Arial"/>
              <a:buNone/>
            </a:pPr>
            <a:r>
              <a:rPr lang="es-419" sz="1400" b="1">
                <a:latin typeface="Arial"/>
                <a:ea typeface="Arial"/>
                <a:cs typeface="Arial"/>
                <a:sym typeface="Arial"/>
              </a:rPr>
              <a:t>El Motor: </a:t>
            </a:r>
            <a:endParaRPr sz="1400" b="1">
              <a:latin typeface="Arial"/>
              <a:ea typeface="Arial"/>
              <a:cs typeface="Arial"/>
              <a:sym typeface="Arial"/>
            </a:endParaRPr>
          </a:p>
          <a:p>
            <a:pPr marL="0" lvl="0" indent="0" algn="l" rtl="0">
              <a:spcBef>
                <a:spcPts val="1200"/>
              </a:spcBef>
              <a:spcAft>
                <a:spcPts val="0"/>
              </a:spcAft>
              <a:buClr>
                <a:schemeClr val="dk1"/>
              </a:buClr>
              <a:buSzPts val="1100"/>
              <a:buFont typeface="Arial"/>
              <a:buNone/>
            </a:pPr>
            <a:r>
              <a:rPr lang="es-419" sz="1400">
                <a:latin typeface="Arial"/>
                <a:ea typeface="Arial"/>
                <a:cs typeface="Arial"/>
                <a:sym typeface="Arial"/>
              </a:rPr>
              <a:t>Creemos en el desarrollo de nuestro talento humano y proveedores nacionales.</a:t>
            </a:r>
            <a:endParaRPr sz="1400">
              <a:latin typeface="Arial"/>
              <a:ea typeface="Arial"/>
              <a:cs typeface="Arial"/>
              <a:sym typeface="Arial"/>
            </a:endParaRPr>
          </a:p>
          <a:p>
            <a:pPr marL="0" lvl="0" indent="0" algn="l" rtl="0">
              <a:spcBef>
                <a:spcPts val="1200"/>
              </a:spcBef>
              <a:spcAft>
                <a:spcPts val="0"/>
              </a:spcAft>
              <a:buClr>
                <a:schemeClr val="dk1"/>
              </a:buClr>
              <a:buSzPts val="1100"/>
              <a:buFont typeface="Arial"/>
              <a:buNone/>
            </a:pPr>
            <a:r>
              <a:rPr lang="es-419" sz="1400" b="1">
                <a:latin typeface="Arial"/>
                <a:ea typeface="Arial"/>
                <a:cs typeface="Arial"/>
                <a:sym typeface="Arial"/>
              </a:rPr>
              <a:t>El Presente: </a:t>
            </a:r>
            <a:endParaRPr sz="1400" b="1">
              <a:latin typeface="Arial"/>
              <a:ea typeface="Arial"/>
              <a:cs typeface="Arial"/>
              <a:sym typeface="Arial"/>
            </a:endParaRPr>
          </a:p>
          <a:p>
            <a:pPr marL="0" lvl="0" indent="0" algn="l" rtl="0">
              <a:spcBef>
                <a:spcPts val="1200"/>
              </a:spcBef>
              <a:spcAft>
                <a:spcPts val="0"/>
              </a:spcAft>
              <a:buClr>
                <a:schemeClr val="dk1"/>
              </a:buClr>
              <a:buSzPts val="1100"/>
              <a:buFont typeface="Arial"/>
              <a:buNone/>
            </a:pPr>
            <a:r>
              <a:rPr lang="es-419" sz="1400">
                <a:latin typeface="Arial"/>
                <a:ea typeface="Arial"/>
                <a:cs typeface="Arial"/>
                <a:sym typeface="Arial"/>
              </a:rPr>
              <a:t>Somos una empresa de Retail masivo que genera inmensos volúmenes de información operativa día a día.</a:t>
            </a:r>
            <a:endParaRPr sz="1400">
              <a:latin typeface="Arial"/>
              <a:ea typeface="Arial"/>
              <a:cs typeface="Arial"/>
              <a:sym typeface="Arial"/>
            </a:endParaRPr>
          </a:p>
          <a:p>
            <a:pPr marL="0" lvl="0" indent="0" algn="l" rtl="0">
              <a:spcBef>
                <a:spcPts val="1200"/>
              </a:spcBef>
              <a:spcAft>
                <a:spcPts val="0"/>
              </a:spcAft>
              <a:buNone/>
            </a:pPr>
            <a:endParaRPr sz="1400" b="1">
              <a:latin typeface="Arial"/>
              <a:ea typeface="Arial"/>
              <a:cs typeface="Arial"/>
              <a:sym typeface="Arial"/>
            </a:endParaRPr>
          </a:p>
          <a:p>
            <a:pPr marL="0" lvl="0" indent="0" algn="l" rtl="0">
              <a:spcBef>
                <a:spcPts val="1200"/>
              </a:spcBef>
              <a:spcAft>
                <a:spcPts val="1200"/>
              </a:spcAft>
              <a:buNone/>
            </a:pPr>
            <a:endParaRPr sz="1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6"/>
          <p:cNvSpPr txBox="1">
            <a:spLocks noGrp="1"/>
          </p:cNvSpPr>
          <p:nvPr>
            <p:ph type="title"/>
          </p:nvPr>
        </p:nvSpPr>
        <p:spPr>
          <a:xfrm>
            <a:off x="311700" y="284475"/>
            <a:ext cx="8520600" cy="418200"/>
          </a:xfrm>
          <a:prstGeom prst="rect">
            <a:avLst/>
          </a:prstGeom>
        </p:spPr>
        <p:txBody>
          <a:bodyPr spcFirstLastPara="1" wrap="square" lIns="91425" tIns="91425" rIns="91425" bIns="91425" anchor="b" anchorCtr="0">
            <a:normAutofit/>
          </a:bodyPr>
          <a:lstStyle/>
          <a:p>
            <a:pPr marL="0" lvl="0" indent="0" algn="ctr" rtl="0">
              <a:lnSpc>
                <a:spcPct val="115000"/>
              </a:lnSpc>
              <a:spcBef>
                <a:spcPts val="1200"/>
              </a:spcBef>
              <a:spcAft>
                <a:spcPts val="1200"/>
              </a:spcAft>
              <a:buNone/>
            </a:pPr>
            <a:r>
              <a:rPr lang="es-419" sz="1500" b="1">
                <a:latin typeface="Arial"/>
                <a:ea typeface="Arial"/>
                <a:cs typeface="Arial"/>
                <a:sym typeface="Arial"/>
              </a:rPr>
              <a:t>Análisis de Contratos con IA</a:t>
            </a:r>
            <a:endParaRPr sz="1500">
              <a:latin typeface="Arial"/>
              <a:ea typeface="Arial"/>
              <a:cs typeface="Arial"/>
              <a:sym typeface="Arial"/>
            </a:endParaRPr>
          </a:p>
        </p:txBody>
      </p:sp>
      <p:sp>
        <p:nvSpPr>
          <p:cNvPr id="86" name="Google Shape;86;p16"/>
          <p:cNvSpPr txBox="1">
            <a:spLocks noGrp="1"/>
          </p:cNvSpPr>
          <p:nvPr>
            <p:ph type="body" idx="1"/>
          </p:nvPr>
        </p:nvSpPr>
        <p:spPr>
          <a:xfrm>
            <a:off x="311700" y="932175"/>
            <a:ext cx="8520600" cy="3697800"/>
          </a:xfrm>
          <a:prstGeom prst="rect">
            <a:avLst/>
          </a:prstGeom>
        </p:spPr>
        <p:txBody>
          <a:bodyPr spcFirstLastPara="1" wrap="square" lIns="91425" tIns="91425" rIns="91425" bIns="91425" anchor="t" anchorCtr="0">
            <a:normAutofit fontScale="77500"/>
          </a:bodyPr>
          <a:lstStyle/>
          <a:p>
            <a:pPr marL="0" lvl="0" indent="0" algn="l" rtl="0">
              <a:spcBef>
                <a:spcPts val="1200"/>
              </a:spcBef>
              <a:spcAft>
                <a:spcPts val="0"/>
              </a:spcAft>
              <a:buNone/>
            </a:pPr>
            <a:r>
              <a:rPr lang="es-419" sz="1500" b="1">
                <a:latin typeface="Arial"/>
                <a:ea typeface="Arial"/>
                <a:cs typeface="Arial"/>
                <a:sym typeface="Arial"/>
              </a:rPr>
              <a:t>Estado Actual:</a:t>
            </a:r>
            <a:r>
              <a:rPr lang="es-419" sz="1500">
                <a:latin typeface="Arial"/>
                <a:ea typeface="Arial"/>
                <a:cs typeface="Arial"/>
                <a:sym typeface="Arial"/>
              </a:rPr>
              <a:t> </a:t>
            </a:r>
            <a:endParaRPr sz="1500">
              <a:latin typeface="Arial"/>
              <a:ea typeface="Arial"/>
              <a:cs typeface="Arial"/>
              <a:sym typeface="Arial"/>
            </a:endParaRPr>
          </a:p>
          <a:p>
            <a:pPr marL="0" lvl="0" indent="0" algn="l" rtl="0">
              <a:spcBef>
                <a:spcPts val="1200"/>
              </a:spcBef>
              <a:spcAft>
                <a:spcPts val="0"/>
              </a:spcAft>
              <a:buNone/>
            </a:pPr>
            <a:r>
              <a:rPr lang="es-419" sz="1500">
                <a:latin typeface="Arial"/>
                <a:ea typeface="Arial"/>
                <a:cs typeface="Arial"/>
                <a:sym typeface="Arial"/>
              </a:rPr>
              <a:t>Actualmente se administran cientos de contratos en donde las principales cláusulas (Proveedores, Fechas de inicio, Fechas de Vencimiento, Fechas de Pago, Cambios de Arrendatarios, Total de Pagos, etc) se encuentran en un concentrado que tiene que actualizarse en forma manual. Para los comparativos que se llegan a requerir es necesario tener el documento en físico o electrónico para hacer validación cláusulas o rubros específicos lo cual no permite tomar una decisión pronta y ágil para determinar activaciones o cancelaciones de contratos.  El conocimiento y oportunidad en la negociación del precio por metro cuadrado de un local tiene un impacto directo en la utilidad de la empresa.</a:t>
            </a:r>
            <a:endParaRPr sz="1500">
              <a:latin typeface="Arial"/>
              <a:ea typeface="Arial"/>
              <a:cs typeface="Arial"/>
              <a:sym typeface="Arial"/>
            </a:endParaRPr>
          </a:p>
          <a:p>
            <a:pPr marL="0" lvl="0" indent="0" algn="l" rtl="0">
              <a:spcBef>
                <a:spcPts val="1200"/>
              </a:spcBef>
              <a:spcAft>
                <a:spcPts val="0"/>
              </a:spcAft>
              <a:buNone/>
            </a:pPr>
            <a:r>
              <a:rPr lang="es-419" sz="1500" b="1">
                <a:latin typeface="Arial"/>
                <a:ea typeface="Arial"/>
                <a:cs typeface="Arial"/>
                <a:sym typeface="Arial"/>
              </a:rPr>
              <a:t>La Solución:</a:t>
            </a:r>
            <a:r>
              <a:rPr lang="es-419" sz="1500">
                <a:latin typeface="Arial"/>
                <a:ea typeface="Arial"/>
                <a:cs typeface="Arial"/>
                <a:sym typeface="Arial"/>
              </a:rPr>
              <a:t> </a:t>
            </a:r>
            <a:endParaRPr sz="1500">
              <a:latin typeface="Arial"/>
              <a:ea typeface="Arial"/>
              <a:cs typeface="Arial"/>
              <a:sym typeface="Arial"/>
            </a:endParaRPr>
          </a:p>
          <a:p>
            <a:pPr marL="0" lvl="0" indent="0" algn="l" rtl="0">
              <a:spcBef>
                <a:spcPts val="1200"/>
              </a:spcBef>
              <a:spcAft>
                <a:spcPts val="0"/>
              </a:spcAft>
              <a:buNone/>
            </a:pPr>
            <a:r>
              <a:rPr lang="es-419" sz="1500">
                <a:latin typeface="Arial"/>
                <a:ea typeface="Arial"/>
                <a:cs typeface="Arial"/>
                <a:sym typeface="Arial"/>
              </a:rPr>
              <a:t>Implementación de una arquitectura para la consulta de datos clave en Lenguaje Natural por parte de Dirección General y la Dirección Inmobiliaria que permita solicitar información puntual o comparativa relacionada con los diferentes contratos.</a:t>
            </a:r>
            <a:endParaRPr sz="1500">
              <a:latin typeface="Arial"/>
              <a:ea typeface="Arial"/>
              <a:cs typeface="Arial"/>
              <a:sym typeface="Arial"/>
            </a:endParaRPr>
          </a:p>
          <a:p>
            <a:pPr marL="0" lvl="0" indent="0" algn="l" rtl="0">
              <a:spcBef>
                <a:spcPts val="1200"/>
              </a:spcBef>
              <a:spcAft>
                <a:spcPts val="0"/>
              </a:spcAft>
              <a:buNone/>
            </a:pPr>
            <a:r>
              <a:rPr lang="es-419" sz="1500" b="1">
                <a:latin typeface="Arial"/>
                <a:ea typeface="Arial"/>
                <a:cs typeface="Arial"/>
                <a:sym typeface="Arial"/>
              </a:rPr>
              <a:t>Objetivo:</a:t>
            </a:r>
            <a:endParaRPr sz="1500">
              <a:latin typeface="Arial"/>
              <a:ea typeface="Arial"/>
              <a:cs typeface="Arial"/>
              <a:sym typeface="Arial"/>
            </a:endParaRPr>
          </a:p>
          <a:p>
            <a:pPr marL="0" lvl="0" indent="0" algn="l" rtl="0">
              <a:spcBef>
                <a:spcPts val="1200"/>
              </a:spcBef>
              <a:spcAft>
                <a:spcPts val="1200"/>
              </a:spcAft>
              <a:buNone/>
            </a:pPr>
            <a:r>
              <a:rPr lang="es-419" sz="1500">
                <a:latin typeface="Arial"/>
                <a:ea typeface="Arial"/>
                <a:cs typeface="Arial"/>
                <a:sym typeface="Arial"/>
              </a:rPr>
              <a:t>Toma oportuna de decisiones para el arrendamiento de locales con terceros o renta de locales propios por medio de consultas directas contra el bloque de contratos que se tienen.</a:t>
            </a:r>
            <a:endParaRPr sz="22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7"/>
          <p:cNvSpPr txBox="1">
            <a:spLocks noGrp="1"/>
          </p:cNvSpPr>
          <p:nvPr>
            <p:ph type="title"/>
          </p:nvPr>
        </p:nvSpPr>
        <p:spPr>
          <a:xfrm>
            <a:off x="311700" y="360675"/>
            <a:ext cx="8520600" cy="469200"/>
          </a:xfrm>
          <a:prstGeom prst="rect">
            <a:avLst/>
          </a:prstGeom>
        </p:spPr>
        <p:txBody>
          <a:bodyPr spcFirstLastPara="1" wrap="square" lIns="91425" tIns="91425" rIns="91425" bIns="91425" anchor="b" anchorCtr="0">
            <a:normAutofit/>
          </a:bodyPr>
          <a:lstStyle/>
          <a:p>
            <a:pPr marL="0" lvl="0" indent="0" algn="ctr" rtl="0">
              <a:lnSpc>
                <a:spcPct val="115000"/>
              </a:lnSpc>
              <a:spcBef>
                <a:spcPts val="1200"/>
              </a:spcBef>
              <a:spcAft>
                <a:spcPts val="1200"/>
              </a:spcAft>
              <a:buClr>
                <a:schemeClr val="dk1"/>
              </a:buClr>
              <a:buSzPts val="1100"/>
              <a:buFont typeface="Arial"/>
              <a:buNone/>
            </a:pPr>
            <a:r>
              <a:rPr lang="es-419" sz="1400" b="1">
                <a:latin typeface="Arial"/>
                <a:ea typeface="Arial"/>
                <a:cs typeface="Arial"/>
                <a:sym typeface="Arial"/>
              </a:rPr>
              <a:t>Ingesta de Datos: De Documentos Estáticos a Datos Vivos</a:t>
            </a:r>
            <a:endParaRPr sz="4500"/>
          </a:p>
        </p:txBody>
      </p:sp>
      <p:sp>
        <p:nvSpPr>
          <p:cNvPr id="92" name="Google Shape;92;p17"/>
          <p:cNvSpPr txBox="1">
            <a:spLocks noGrp="1"/>
          </p:cNvSpPr>
          <p:nvPr>
            <p:ph type="body" idx="1"/>
          </p:nvPr>
        </p:nvSpPr>
        <p:spPr>
          <a:xfrm>
            <a:off x="311700" y="982975"/>
            <a:ext cx="8520600" cy="3596100"/>
          </a:xfrm>
          <a:prstGeom prst="rect">
            <a:avLst/>
          </a:prstGeom>
        </p:spPr>
        <p:txBody>
          <a:bodyPr spcFirstLastPara="1" wrap="square" lIns="91425" tIns="91425" rIns="91425" bIns="91425" anchor="t" anchorCtr="0">
            <a:normAutofit lnSpcReduction="10000"/>
          </a:bodyPr>
          <a:lstStyle/>
          <a:p>
            <a:pPr marL="0" lvl="0" indent="0" algn="l" rtl="0">
              <a:spcBef>
                <a:spcPts val="1200"/>
              </a:spcBef>
              <a:spcAft>
                <a:spcPts val="0"/>
              </a:spcAft>
              <a:buNone/>
            </a:pPr>
            <a:r>
              <a:rPr lang="es-419" sz="1500" b="1">
                <a:latin typeface="Arial"/>
                <a:ea typeface="Arial"/>
                <a:cs typeface="Arial"/>
                <a:sym typeface="Arial"/>
              </a:rPr>
              <a:t>Arquitectura Actual:</a:t>
            </a:r>
            <a:r>
              <a:rPr lang="es-419" sz="1500">
                <a:latin typeface="Arial"/>
                <a:ea typeface="Arial"/>
                <a:cs typeface="Arial"/>
                <a:sym typeface="Arial"/>
              </a:rPr>
              <a:t> </a:t>
            </a:r>
            <a:endParaRPr sz="1500">
              <a:latin typeface="Arial"/>
              <a:ea typeface="Arial"/>
              <a:cs typeface="Arial"/>
              <a:sym typeface="Arial"/>
            </a:endParaRPr>
          </a:p>
          <a:p>
            <a:pPr marL="0" lvl="0" indent="0" algn="l" rtl="0">
              <a:spcBef>
                <a:spcPts val="1200"/>
              </a:spcBef>
              <a:spcAft>
                <a:spcPts val="0"/>
              </a:spcAft>
              <a:buNone/>
            </a:pPr>
            <a:r>
              <a:rPr lang="es-419" sz="1500">
                <a:latin typeface="Arial"/>
                <a:ea typeface="Arial"/>
                <a:cs typeface="Arial"/>
                <a:sym typeface="Arial"/>
              </a:rPr>
              <a:t>Los documentos se encuentran en repositorios locales sobre infraestructura Windows</a:t>
            </a:r>
            <a:endParaRPr sz="1500">
              <a:latin typeface="Arial"/>
              <a:ea typeface="Arial"/>
              <a:cs typeface="Arial"/>
              <a:sym typeface="Arial"/>
            </a:endParaRPr>
          </a:p>
          <a:p>
            <a:pPr marL="0" lvl="0" indent="0" algn="l" rtl="0">
              <a:spcBef>
                <a:spcPts val="1200"/>
              </a:spcBef>
              <a:spcAft>
                <a:spcPts val="0"/>
              </a:spcAft>
              <a:buNone/>
            </a:pPr>
            <a:r>
              <a:rPr lang="es-419" sz="1500">
                <a:latin typeface="Arial"/>
                <a:ea typeface="Arial"/>
                <a:cs typeface="Arial"/>
                <a:sym typeface="Arial"/>
              </a:rPr>
              <a:t>La delegación de permisos es por medio de Directorio Activo a carpetas específicas.</a:t>
            </a:r>
            <a:endParaRPr sz="1500">
              <a:latin typeface="Arial"/>
              <a:ea typeface="Arial"/>
              <a:cs typeface="Arial"/>
              <a:sym typeface="Arial"/>
            </a:endParaRPr>
          </a:p>
          <a:p>
            <a:pPr marL="0" lvl="0" indent="0" algn="l" rtl="0">
              <a:spcBef>
                <a:spcPts val="1200"/>
              </a:spcBef>
              <a:spcAft>
                <a:spcPts val="0"/>
              </a:spcAft>
              <a:buNone/>
            </a:pPr>
            <a:r>
              <a:rPr lang="es-419" sz="1500" b="1">
                <a:latin typeface="Arial"/>
                <a:ea typeface="Arial"/>
                <a:cs typeface="Arial"/>
                <a:sym typeface="Arial"/>
              </a:rPr>
              <a:t>Arquitectura requerida:</a:t>
            </a:r>
            <a:r>
              <a:rPr lang="es-419" sz="1500">
                <a:latin typeface="Arial"/>
                <a:ea typeface="Arial"/>
                <a:cs typeface="Arial"/>
                <a:sym typeface="Arial"/>
              </a:rPr>
              <a:t> </a:t>
            </a:r>
            <a:endParaRPr sz="1500">
              <a:latin typeface="Arial"/>
              <a:ea typeface="Arial"/>
              <a:cs typeface="Arial"/>
              <a:sym typeface="Arial"/>
            </a:endParaRPr>
          </a:p>
          <a:p>
            <a:pPr marL="0" lvl="0" indent="0" algn="l" rtl="0">
              <a:spcBef>
                <a:spcPts val="1200"/>
              </a:spcBef>
              <a:spcAft>
                <a:spcPts val="0"/>
              </a:spcAft>
              <a:buNone/>
            </a:pPr>
            <a:r>
              <a:rPr lang="es-419" sz="1500">
                <a:latin typeface="Arial"/>
                <a:ea typeface="Arial"/>
                <a:cs typeface="Arial"/>
                <a:sym typeface="Arial"/>
              </a:rPr>
              <a:t>Local o en la nube. En caso de ser en la nube, garantizar las premisas de seguridad y acceso necesarias para poder albergar y transformar los documentos legales que se quieren para su posterior consulta utilizando Lenguaje natural.</a:t>
            </a:r>
            <a:endParaRPr sz="1500">
              <a:latin typeface="Arial"/>
              <a:ea typeface="Arial"/>
              <a:cs typeface="Arial"/>
              <a:sym typeface="Arial"/>
            </a:endParaRPr>
          </a:p>
          <a:p>
            <a:pPr marL="0" lvl="0" indent="0" algn="l" rtl="0">
              <a:spcBef>
                <a:spcPts val="1200"/>
              </a:spcBef>
              <a:spcAft>
                <a:spcPts val="0"/>
              </a:spcAft>
              <a:buNone/>
            </a:pPr>
            <a:r>
              <a:rPr lang="es-419" sz="1500">
                <a:latin typeface="Arial"/>
                <a:ea typeface="Arial"/>
                <a:cs typeface="Arial"/>
                <a:sym typeface="Arial"/>
              </a:rPr>
              <a:t>En cuanto a Arquitectura en la Nube, las alternativas en orden de precedencia serían: Google y AWS.</a:t>
            </a:r>
            <a:endParaRPr sz="1500">
              <a:latin typeface="Arial"/>
              <a:ea typeface="Arial"/>
              <a:cs typeface="Arial"/>
              <a:sym typeface="Arial"/>
            </a:endParaRPr>
          </a:p>
          <a:p>
            <a:pPr marL="0" lvl="0" indent="0" algn="l" rtl="0">
              <a:spcBef>
                <a:spcPts val="1200"/>
              </a:spcBef>
              <a:spcAft>
                <a:spcPts val="1200"/>
              </a:spcAft>
              <a:buNone/>
            </a:pPr>
            <a:r>
              <a:rPr lang="es-419" sz="1500">
                <a:latin typeface="Arial"/>
                <a:ea typeface="Arial"/>
                <a:cs typeface="Arial"/>
                <a:sym typeface="Arial"/>
              </a:rPr>
              <a:t>En arquitectura local: se pueden proponer alternativas.</a:t>
            </a:r>
            <a:endParaRPr sz="22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8"/>
          <p:cNvSpPr txBox="1">
            <a:spLocks noGrp="1"/>
          </p:cNvSpPr>
          <p:nvPr>
            <p:ph type="title"/>
          </p:nvPr>
        </p:nvSpPr>
        <p:spPr>
          <a:xfrm>
            <a:off x="311700" y="322575"/>
            <a:ext cx="8520600" cy="430800"/>
          </a:xfrm>
          <a:prstGeom prst="rect">
            <a:avLst/>
          </a:prstGeom>
        </p:spPr>
        <p:txBody>
          <a:bodyPr spcFirstLastPara="1" wrap="square" lIns="91425" tIns="91425" rIns="91425" bIns="91425" anchor="b" anchorCtr="0">
            <a:normAutofit/>
          </a:bodyPr>
          <a:lstStyle/>
          <a:p>
            <a:pPr marL="0" lvl="0" indent="0" algn="ctr" rtl="0">
              <a:lnSpc>
                <a:spcPct val="115000"/>
              </a:lnSpc>
              <a:spcBef>
                <a:spcPts val="1200"/>
              </a:spcBef>
              <a:spcAft>
                <a:spcPts val="1200"/>
              </a:spcAft>
              <a:buClr>
                <a:schemeClr val="dk1"/>
              </a:buClr>
              <a:buSzPts val="1100"/>
              <a:buFont typeface="Arial"/>
              <a:buNone/>
            </a:pPr>
            <a:r>
              <a:rPr lang="es-419" sz="1500" b="1">
                <a:latin typeface="Arial"/>
                <a:ea typeface="Arial"/>
                <a:cs typeface="Arial"/>
                <a:sym typeface="Arial"/>
              </a:rPr>
              <a:t>Interacción Directa: Conversando con tus Documentos</a:t>
            </a:r>
            <a:endParaRPr sz="4600"/>
          </a:p>
        </p:txBody>
      </p:sp>
      <p:sp>
        <p:nvSpPr>
          <p:cNvPr id="98" name="Google Shape;98;p18"/>
          <p:cNvSpPr txBox="1">
            <a:spLocks noGrp="1"/>
          </p:cNvSpPr>
          <p:nvPr>
            <p:ph type="body" idx="1"/>
          </p:nvPr>
        </p:nvSpPr>
        <p:spPr>
          <a:xfrm>
            <a:off x="311700" y="881375"/>
            <a:ext cx="8520600" cy="3697800"/>
          </a:xfrm>
          <a:prstGeom prst="rect">
            <a:avLst/>
          </a:prstGeom>
        </p:spPr>
        <p:txBody>
          <a:bodyPr spcFirstLastPara="1" wrap="square" lIns="91425" tIns="91425" rIns="91425" bIns="91425" anchor="t" anchorCtr="0">
            <a:normAutofit fontScale="77500" lnSpcReduction="10000"/>
          </a:bodyPr>
          <a:lstStyle/>
          <a:p>
            <a:pPr marL="0" lvl="0" indent="0" algn="l" rtl="0">
              <a:spcBef>
                <a:spcPts val="1200"/>
              </a:spcBef>
              <a:spcAft>
                <a:spcPts val="0"/>
              </a:spcAft>
              <a:buNone/>
            </a:pPr>
            <a:r>
              <a:rPr lang="es-419" sz="1400" b="1">
                <a:latin typeface="Arial"/>
                <a:ea typeface="Arial"/>
                <a:cs typeface="Arial"/>
                <a:sym typeface="Arial"/>
              </a:rPr>
              <a:t>Consulta Intuitiva:</a:t>
            </a:r>
            <a:r>
              <a:rPr lang="es-419" sz="1400">
                <a:latin typeface="Arial"/>
                <a:ea typeface="Arial"/>
                <a:cs typeface="Arial"/>
                <a:sym typeface="Arial"/>
              </a:rPr>
              <a:t> </a:t>
            </a:r>
            <a:endParaRPr sz="1400">
              <a:latin typeface="Arial"/>
              <a:ea typeface="Arial"/>
              <a:cs typeface="Arial"/>
              <a:sym typeface="Arial"/>
            </a:endParaRPr>
          </a:p>
          <a:p>
            <a:pPr marL="0" lvl="0" indent="0" algn="l" rtl="0">
              <a:spcBef>
                <a:spcPts val="1200"/>
              </a:spcBef>
              <a:spcAft>
                <a:spcPts val="0"/>
              </a:spcAft>
              <a:buNone/>
            </a:pPr>
            <a:r>
              <a:rPr lang="es-419" sz="1400">
                <a:latin typeface="Arial"/>
                <a:ea typeface="Arial"/>
                <a:cs typeface="Arial"/>
                <a:sym typeface="Arial"/>
              </a:rPr>
              <a:t>El proyecto incluye una interfaz con Lenguaje Natural en donde Dirección General y la Dirección Inmobiliaria pueda realizar preguntas como lo son:</a:t>
            </a:r>
            <a:endParaRPr sz="1400">
              <a:latin typeface="Arial"/>
              <a:ea typeface="Arial"/>
              <a:cs typeface="Arial"/>
              <a:sym typeface="Arial"/>
            </a:endParaRPr>
          </a:p>
          <a:p>
            <a:pPr marL="0" lvl="0" indent="0" algn="l" rtl="0">
              <a:spcBef>
                <a:spcPts val="1200"/>
              </a:spcBef>
              <a:spcAft>
                <a:spcPts val="0"/>
              </a:spcAft>
              <a:buNone/>
            </a:pPr>
            <a:r>
              <a:rPr lang="es-419" sz="1400" b="1">
                <a:latin typeface="Arial"/>
                <a:ea typeface="Arial"/>
                <a:cs typeface="Arial"/>
                <a:sym typeface="Arial"/>
              </a:rPr>
              <a:t>Ejemplos de Consulta:</a:t>
            </a:r>
            <a:endParaRPr sz="1400" b="1">
              <a:latin typeface="Arial"/>
              <a:ea typeface="Arial"/>
              <a:cs typeface="Arial"/>
              <a:sym typeface="Arial"/>
            </a:endParaRPr>
          </a:p>
          <a:p>
            <a:pPr marL="0" lvl="0" indent="0" algn="l" rtl="0">
              <a:spcBef>
                <a:spcPts val="1200"/>
              </a:spcBef>
              <a:spcAft>
                <a:spcPts val="0"/>
              </a:spcAft>
              <a:buNone/>
            </a:pPr>
            <a:r>
              <a:rPr lang="es-419" sz="1400" i="1">
                <a:latin typeface="Arial"/>
                <a:ea typeface="Arial"/>
                <a:cs typeface="Arial"/>
                <a:sym typeface="Arial"/>
              </a:rPr>
              <a:t>"¿Cuándo vence el contrato de la sucursal Monterrey?"</a:t>
            </a:r>
            <a:endParaRPr sz="1400" i="1">
              <a:latin typeface="Arial"/>
              <a:ea typeface="Arial"/>
              <a:cs typeface="Arial"/>
              <a:sym typeface="Arial"/>
            </a:endParaRPr>
          </a:p>
          <a:p>
            <a:pPr marL="0" lvl="0" indent="0" algn="l" rtl="0">
              <a:spcBef>
                <a:spcPts val="1200"/>
              </a:spcBef>
              <a:spcAft>
                <a:spcPts val="0"/>
              </a:spcAft>
              <a:buNone/>
            </a:pPr>
            <a:r>
              <a:rPr lang="es-419" sz="1400" i="1">
                <a:latin typeface="Arial"/>
                <a:ea typeface="Arial"/>
                <a:cs typeface="Arial"/>
                <a:sym typeface="Arial"/>
              </a:rPr>
              <a:t>"¿Cuál es la penalización por rescisión anticipada en este acuerdo?"</a:t>
            </a:r>
            <a:endParaRPr sz="1400" i="1">
              <a:latin typeface="Arial"/>
              <a:ea typeface="Arial"/>
              <a:cs typeface="Arial"/>
              <a:sym typeface="Arial"/>
            </a:endParaRPr>
          </a:p>
          <a:p>
            <a:pPr marL="0" lvl="0" indent="0" algn="l" rtl="0">
              <a:spcBef>
                <a:spcPts val="1200"/>
              </a:spcBef>
              <a:spcAft>
                <a:spcPts val="0"/>
              </a:spcAft>
              <a:buNone/>
            </a:pPr>
            <a:r>
              <a:rPr lang="es-419" sz="1400" i="1">
                <a:latin typeface="Arial"/>
                <a:ea typeface="Arial"/>
                <a:cs typeface="Arial"/>
                <a:sym typeface="Arial"/>
              </a:rPr>
              <a:t>“Compara las cláusulas relacionadas con pago de renta de los contratos asociados con los proveedores A, B y C”</a:t>
            </a:r>
            <a:endParaRPr sz="1400" i="1">
              <a:latin typeface="Arial"/>
              <a:ea typeface="Arial"/>
              <a:cs typeface="Arial"/>
              <a:sym typeface="Arial"/>
            </a:endParaRPr>
          </a:p>
          <a:p>
            <a:pPr marL="0" lvl="0" indent="0" algn="l" rtl="0">
              <a:spcBef>
                <a:spcPts val="1200"/>
              </a:spcBef>
              <a:spcAft>
                <a:spcPts val="0"/>
              </a:spcAft>
              <a:buNone/>
            </a:pPr>
            <a:r>
              <a:rPr lang="es-419" sz="1400" i="1">
                <a:latin typeface="Arial"/>
                <a:ea typeface="Arial"/>
                <a:cs typeface="Arial"/>
                <a:sym typeface="Arial"/>
              </a:rPr>
              <a:t>“Compara las 5 mejores alternativas de renta de los contratos firmados en Guanajuato y presenta los proveedores asociados con esto. los metros cuadrados de cada local para ser considerado en el comparativo deben de ser superiores a 400 metros cuadrados.”</a:t>
            </a:r>
            <a:endParaRPr sz="1400" i="1">
              <a:latin typeface="Arial"/>
              <a:ea typeface="Arial"/>
              <a:cs typeface="Arial"/>
              <a:sym typeface="Arial"/>
            </a:endParaRPr>
          </a:p>
          <a:p>
            <a:pPr marL="0" lvl="0" indent="0" algn="l" rtl="0">
              <a:spcBef>
                <a:spcPts val="1200"/>
              </a:spcBef>
              <a:spcAft>
                <a:spcPts val="0"/>
              </a:spcAft>
              <a:buNone/>
            </a:pPr>
            <a:r>
              <a:rPr lang="es-419" sz="1400" b="1">
                <a:latin typeface="Arial"/>
                <a:ea typeface="Arial"/>
                <a:cs typeface="Arial"/>
                <a:sym typeface="Arial"/>
              </a:rPr>
              <a:t>Precisión en la respuesta:</a:t>
            </a:r>
            <a:endParaRPr sz="1400" b="1">
              <a:latin typeface="Arial"/>
              <a:ea typeface="Arial"/>
              <a:cs typeface="Arial"/>
              <a:sym typeface="Arial"/>
            </a:endParaRPr>
          </a:p>
          <a:p>
            <a:pPr marL="0" lvl="0" indent="0" algn="l" rtl="0">
              <a:spcBef>
                <a:spcPts val="1200"/>
              </a:spcBef>
              <a:spcAft>
                <a:spcPts val="0"/>
              </a:spcAft>
              <a:buNone/>
            </a:pPr>
            <a:r>
              <a:rPr lang="es-419" sz="1400">
                <a:latin typeface="Arial"/>
                <a:ea typeface="Arial"/>
                <a:cs typeface="Arial"/>
                <a:sym typeface="Arial"/>
              </a:rPr>
              <a:t>Debe de presentarse la información relacionada con los contratos así como recomendaciones en función de la información analizada.</a:t>
            </a:r>
            <a:endParaRPr sz="1400">
              <a:latin typeface="Arial"/>
              <a:ea typeface="Arial"/>
              <a:cs typeface="Arial"/>
              <a:sym typeface="Arial"/>
            </a:endParaRPr>
          </a:p>
          <a:p>
            <a:pPr marL="0" lvl="0" indent="0" algn="l" rtl="0">
              <a:spcBef>
                <a:spcPts val="1200"/>
              </a:spcBef>
              <a:spcAft>
                <a:spcPts val="120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9"/>
          <p:cNvSpPr txBox="1">
            <a:spLocks noGrp="1"/>
          </p:cNvSpPr>
          <p:nvPr>
            <p:ph type="title"/>
          </p:nvPr>
        </p:nvSpPr>
        <p:spPr>
          <a:xfrm>
            <a:off x="311700" y="347975"/>
            <a:ext cx="8520600" cy="418200"/>
          </a:xfrm>
          <a:prstGeom prst="rect">
            <a:avLst/>
          </a:prstGeom>
        </p:spPr>
        <p:txBody>
          <a:bodyPr spcFirstLastPara="1" wrap="square" lIns="91425" tIns="91425" rIns="91425" bIns="91425" anchor="b" anchorCtr="0">
            <a:normAutofit/>
          </a:bodyPr>
          <a:lstStyle/>
          <a:p>
            <a:pPr marL="0" lvl="0" indent="0" algn="ctr" rtl="0">
              <a:lnSpc>
                <a:spcPct val="115000"/>
              </a:lnSpc>
              <a:spcBef>
                <a:spcPts val="1200"/>
              </a:spcBef>
              <a:spcAft>
                <a:spcPts val="1200"/>
              </a:spcAft>
              <a:buClr>
                <a:schemeClr val="dk1"/>
              </a:buClr>
              <a:buSzPts val="1100"/>
              <a:buFont typeface="Arial"/>
              <a:buNone/>
            </a:pPr>
            <a:r>
              <a:rPr lang="es-419" sz="1500" b="1">
                <a:latin typeface="Arial"/>
                <a:ea typeface="Arial"/>
                <a:cs typeface="Arial"/>
                <a:sym typeface="Arial"/>
              </a:rPr>
              <a:t>Valor Agregado otorgado por parte de los Grupos de Alumnos</a:t>
            </a:r>
            <a:endParaRPr sz="4600">
              <a:latin typeface="Arial"/>
              <a:ea typeface="Arial"/>
              <a:cs typeface="Arial"/>
              <a:sym typeface="Arial"/>
            </a:endParaRPr>
          </a:p>
        </p:txBody>
      </p:sp>
      <p:sp>
        <p:nvSpPr>
          <p:cNvPr id="104" name="Google Shape;104;p19"/>
          <p:cNvSpPr txBox="1">
            <a:spLocks noGrp="1"/>
          </p:cNvSpPr>
          <p:nvPr>
            <p:ph type="body" idx="1"/>
          </p:nvPr>
        </p:nvSpPr>
        <p:spPr>
          <a:xfrm>
            <a:off x="311700" y="906775"/>
            <a:ext cx="8520600" cy="36726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None/>
            </a:pPr>
            <a:r>
              <a:rPr lang="es-419" sz="1400" b="1">
                <a:latin typeface="Arial"/>
                <a:ea typeface="Arial"/>
                <a:cs typeface="Arial"/>
                <a:sym typeface="Arial"/>
              </a:rPr>
              <a:t>Eficiencia Operativa:</a:t>
            </a:r>
            <a:r>
              <a:rPr lang="es-419" sz="1400">
                <a:latin typeface="Arial"/>
                <a:ea typeface="Arial"/>
                <a:cs typeface="Arial"/>
                <a:sym typeface="Arial"/>
              </a:rPr>
              <a:t> </a:t>
            </a:r>
            <a:endParaRPr sz="1400">
              <a:latin typeface="Arial"/>
              <a:ea typeface="Arial"/>
              <a:cs typeface="Arial"/>
              <a:sym typeface="Arial"/>
            </a:endParaRPr>
          </a:p>
          <a:p>
            <a:pPr marL="0" lvl="0" indent="0" algn="l" rtl="0">
              <a:spcBef>
                <a:spcPts val="1200"/>
              </a:spcBef>
              <a:spcAft>
                <a:spcPts val="0"/>
              </a:spcAft>
              <a:buNone/>
            </a:pPr>
            <a:r>
              <a:rPr lang="es-419" sz="1400">
                <a:latin typeface="Arial"/>
                <a:ea typeface="Arial"/>
                <a:cs typeface="Arial"/>
                <a:sym typeface="Arial"/>
              </a:rPr>
              <a:t>Centralizar y explotar a detalle la información legal de los Contratos de la Compañía.</a:t>
            </a:r>
            <a:endParaRPr sz="1400">
              <a:latin typeface="Arial"/>
              <a:ea typeface="Arial"/>
              <a:cs typeface="Arial"/>
              <a:sym typeface="Arial"/>
            </a:endParaRPr>
          </a:p>
          <a:p>
            <a:pPr marL="0" lvl="0" indent="0" algn="l" rtl="0">
              <a:spcBef>
                <a:spcPts val="1200"/>
              </a:spcBef>
              <a:spcAft>
                <a:spcPts val="0"/>
              </a:spcAft>
              <a:buNone/>
            </a:pPr>
            <a:r>
              <a:rPr lang="es-419" sz="1400" b="1">
                <a:latin typeface="Arial"/>
                <a:ea typeface="Arial"/>
                <a:cs typeface="Arial"/>
                <a:sym typeface="Arial"/>
              </a:rPr>
              <a:t>Toma de Decisiones:</a:t>
            </a:r>
            <a:r>
              <a:rPr lang="es-419" sz="1400">
                <a:latin typeface="Arial"/>
                <a:ea typeface="Arial"/>
                <a:cs typeface="Arial"/>
                <a:sym typeface="Arial"/>
              </a:rPr>
              <a:t> </a:t>
            </a:r>
            <a:endParaRPr sz="1400">
              <a:latin typeface="Arial"/>
              <a:ea typeface="Arial"/>
              <a:cs typeface="Arial"/>
              <a:sym typeface="Arial"/>
            </a:endParaRPr>
          </a:p>
          <a:p>
            <a:pPr marL="0" lvl="0" indent="0" algn="l" rtl="0">
              <a:spcBef>
                <a:spcPts val="1200"/>
              </a:spcBef>
              <a:spcAft>
                <a:spcPts val="0"/>
              </a:spcAft>
              <a:buNone/>
            </a:pPr>
            <a:r>
              <a:rPr lang="es-419" sz="1400">
                <a:latin typeface="Arial"/>
                <a:ea typeface="Arial"/>
                <a:cs typeface="Arial"/>
                <a:sym typeface="Arial"/>
              </a:rPr>
              <a:t>Decisiones oportunas y prontas para renovaciones, cancelaciones o nuevos contratos.</a:t>
            </a:r>
            <a:endParaRPr sz="1400">
              <a:latin typeface="Arial"/>
              <a:ea typeface="Arial"/>
              <a:cs typeface="Arial"/>
              <a:sym typeface="Arial"/>
            </a:endParaRPr>
          </a:p>
          <a:p>
            <a:pPr marL="0" lvl="0" indent="0" algn="l" rtl="0">
              <a:spcBef>
                <a:spcPts val="1200"/>
              </a:spcBef>
              <a:spcAft>
                <a:spcPts val="0"/>
              </a:spcAft>
              <a:buNone/>
            </a:pPr>
            <a:r>
              <a:rPr lang="es-419" sz="1400" b="1">
                <a:latin typeface="Arial"/>
                <a:ea typeface="Arial"/>
                <a:cs typeface="Arial"/>
                <a:sym typeface="Arial"/>
              </a:rPr>
              <a:t>Escalabilidad:</a:t>
            </a:r>
            <a:r>
              <a:rPr lang="es-419" sz="1400">
                <a:latin typeface="Arial"/>
                <a:ea typeface="Arial"/>
                <a:cs typeface="Arial"/>
                <a:sym typeface="Arial"/>
              </a:rPr>
              <a:t> </a:t>
            </a:r>
            <a:endParaRPr sz="1400">
              <a:latin typeface="Arial"/>
              <a:ea typeface="Arial"/>
              <a:cs typeface="Arial"/>
              <a:sym typeface="Arial"/>
            </a:endParaRPr>
          </a:p>
          <a:p>
            <a:pPr marL="0" lvl="0" indent="0" algn="l" rtl="0">
              <a:spcBef>
                <a:spcPts val="1200"/>
              </a:spcBef>
              <a:spcAft>
                <a:spcPts val="0"/>
              </a:spcAft>
              <a:buNone/>
            </a:pPr>
            <a:r>
              <a:rPr lang="es-419" sz="1400">
                <a:latin typeface="Arial"/>
                <a:ea typeface="Arial"/>
                <a:cs typeface="Arial"/>
                <a:sym typeface="Arial"/>
              </a:rPr>
              <a:t>Primer paso en forma inicial para el análisis de información y en un segundo paso para la propuesta y creación de nuevos contratos en función del entrenamiento gradual del modelo.</a:t>
            </a:r>
            <a:endParaRPr sz="1400">
              <a:latin typeface="Arial"/>
              <a:ea typeface="Arial"/>
              <a:cs typeface="Arial"/>
              <a:sym typeface="Arial"/>
            </a:endParaRPr>
          </a:p>
          <a:p>
            <a:pPr marL="0" lvl="0" indent="0" algn="ctr" rtl="0">
              <a:spcBef>
                <a:spcPts val="1200"/>
              </a:spcBef>
              <a:spcAft>
                <a:spcPts val="0"/>
              </a:spcAft>
              <a:buNone/>
            </a:pPr>
            <a:r>
              <a:rPr lang="es-419" b="1" i="1"/>
              <a:t>Creatividad</a:t>
            </a:r>
            <a:endParaRPr b="1" i="1"/>
          </a:p>
          <a:p>
            <a:pPr marL="0" lvl="0" indent="0" algn="l" rtl="0">
              <a:spcBef>
                <a:spcPts val="1200"/>
              </a:spcBef>
              <a:spcAft>
                <a:spcPts val="1200"/>
              </a:spcAft>
              <a:buNone/>
            </a:pPr>
            <a:endParaRPr/>
          </a:p>
        </p:txBody>
      </p:sp>
    </p:spTree>
  </p:cSld>
  <p:clrMapOvr>
    <a:masterClrMapping/>
  </p:clrMapOvr>
</p:sld>
</file>

<file path=ppt/theme/theme1.xml><?xml version="1.0" encoding="utf-8"?>
<a:theme xmlns:a="http://schemas.openxmlformats.org/drawingml/2006/main"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745</Words>
  <Application>Microsoft Macintosh PowerPoint</Application>
  <PresentationFormat>Presentación en pantalla (16:9)</PresentationFormat>
  <Paragraphs>53</Paragraphs>
  <Slides>8</Slides>
  <Notes>7</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8</vt:i4>
      </vt:variant>
    </vt:vector>
  </HeadingPairs>
  <TitlesOfParts>
    <vt:vector size="12" baseType="lpstr">
      <vt:lpstr>Arial</vt:lpstr>
      <vt:lpstr>Economica</vt:lpstr>
      <vt:lpstr>Open Sans</vt:lpstr>
      <vt:lpstr>Luxe</vt:lpstr>
      <vt:lpstr>VERTICHE</vt:lpstr>
      <vt:lpstr>Presentación de PowerPoint</vt:lpstr>
      <vt:lpstr> Pasión por la Moda, Compromiso con México.</vt:lpstr>
      <vt:lpstr>Vertiche Hoy: Impacto, Valores y Expansión.</vt:lpstr>
      <vt:lpstr>Análisis de Contratos con IA</vt:lpstr>
      <vt:lpstr>Ingesta de Datos: De Documentos Estáticos a Datos Vivos</vt:lpstr>
      <vt:lpstr>Interacción Directa: Conversando con tus Documentos</vt:lpstr>
      <vt:lpstr>Valor Agregado otorgado por parte de los Grupos de Alumnos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José Luis Gómez Muñoz</cp:lastModifiedBy>
  <cp:revision>1</cp:revision>
  <dcterms:modified xsi:type="dcterms:W3CDTF">2026-02-14T01:57:38Z</dcterms:modified>
</cp:coreProperties>
</file>